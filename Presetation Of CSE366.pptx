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3" r:id="rId1"/>
  </p:sldMasterIdLst>
  <p:sldIdLst>
    <p:sldId id="256" r:id="rId2"/>
    <p:sldId id="268" r:id="rId3"/>
    <p:sldId id="257" r:id="rId4"/>
    <p:sldId id="258" r:id="rId5"/>
    <p:sldId id="259" r:id="rId6"/>
    <p:sldId id="260" r:id="rId7"/>
    <p:sldId id="271" r:id="rId8"/>
    <p:sldId id="261" r:id="rId9"/>
    <p:sldId id="272" r:id="rId10"/>
    <p:sldId id="262" r:id="rId11"/>
    <p:sldId id="273" r:id="rId12"/>
    <p:sldId id="269" r:id="rId13"/>
    <p:sldId id="270" r:id="rId14"/>
    <p:sldId id="263" r:id="rId15"/>
    <p:sldId id="264"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74" autoAdjust="0"/>
  </p:normalViewPr>
  <p:slideViewPr>
    <p:cSldViewPr snapToGrid="0" snapToObjects="1">
      <p:cViewPr varScale="1">
        <p:scale>
          <a:sx n="113" d="100"/>
          <a:sy n="113" d="100"/>
        </p:scale>
        <p:origin x="1554"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3979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214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9186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0540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5153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028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1645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4593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874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7823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8432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445821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6521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84448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4803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1268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0746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40847265"/>
      </p:ext>
    </p:extLst>
  </p:cSld>
  <p:clrMap bg1="dk1" tx1="lt1" bg2="dk2" tx2="lt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998377"/>
            <a:ext cx="6600451" cy="1735492"/>
          </a:xfrm>
        </p:spPr>
        <p:txBody>
          <a:bodyPr/>
          <a:lstStyle/>
          <a:p>
            <a:r>
              <a:rPr dirty="0"/>
              <a:t>Tree Plant Village</a:t>
            </a:r>
          </a:p>
        </p:txBody>
      </p:sp>
      <p:sp>
        <p:nvSpPr>
          <p:cNvPr id="3" name="Subtitle 2"/>
          <p:cNvSpPr>
            <a:spLocks noGrp="1"/>
          </p:cNvSpPr>
          <p:nvPr>
            <p:ph type="subTitle" idx="1"/>
          </p:nvPr>
        </p:nvSpPr>
        <p:spPr>
          <a:xfrm>
            <a:off x="1942416" y="3415004"/>
            <a:ext cx="6600451" cy="1231641"/>
          </a:xfrm>
        </p:spPr>
        <p:txBody>
          <a:bodyPr>
            <a:normAutofit/>
          </a:bodyPr>
          <a:lstStyle/>
          <a:p>
            <a:r>
              <a:rPr sz="2000" dirty="0">
                <a:latin typeface="Times New Roman" panose="02020603050405020304" pitchFamily="18" charset="0"/>
                <a:cs typeface="Times New Roman" panose="02020603050405020304" pitchFamily="18" charset="0"/>
              </a:rPr>
              <a:t>Plant Leaf Disease Detection Using CNN</a:t>
            </a:r>
          </a:p>
          <a:p>
            <a:r>
              <a:rPr sz="2000" dirty="0">
                <a:latin typeface="Times New Roman" panose="02020603050405020304" pitchFamily="18" charset="0"/>
                <a:cs typeface="Times New Roman" panose="02020603050405020304" pitchFamily="18" charset="0"/>
              </a:rPr>
              <a:t>Mini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765110"/>
            <a:ext cx="6668278" cy="737119"/>
          </a:xfrm>
        </p:spPr>
        <p:txBody>
          <a:bodyPr/>
          <a:lstStyle/>
          <a:p>
            <a:pPr marL="0" indent="0"/>
            <a:r>
              <a:rPr lang="en-US" u="sng" dirty="0">
                <a:solidFill>
                  <a:schemeClr val="accent1"/>
                </a:solidFill>
              </a:rPr>
              <a:t>Presented By</a:t>
            </a:r>
            <a:r>
              <a:rPr lang="en-US" dirty="0">
                <a:solidFill>
                  <a:schemeClr val="accent1"/>
                </a:solidFill>
              </a:rPr>
              <a:t>:</a:t>
            </a: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2324345115"/>
              </p:ext>
            </p:extLst>
          </p:nvPr>
        </p:nvGraphicFramePr>
        <p:xfrm>
          <a:off x="1945201" y="1978090"/>
          <a:ext cx="6668278" cy="3769566"/>
        </p:xfrm>
        <a:graphic>
          <a:graphicData uri="http://schemas.openxmlformats.org/drawingml/2006/table">
            <a:tbl>
              <a:tblPr firstRow="1" bandRow="1">
                <a:tableStyleId>{5C22544A-7EE6-4342-B048-85BDC9FD1C3A}</a:tableStyleId>
              </a:tblPr>
              <a:tblGrid>
                <a:gridCol w="3334139">
                  <a:extLst>
                    <a:ext uri="{9D8B030D-6E8A-4147-A177-3AD203B41FA5}">
                      <a16:colId xmlns:a16="http://schemas.microsoft.com/office/drawing/2014/main" val="2921052409"/>
                    </a:ext>
                  </a:extLst>
                </a:gridCol>
                <a:gridCol w="3334139">
                  <a:extLst>
                    <a:ext uri="{9D8B030D-6E8A-4147-A177-3AD203B41FA5}">
                      <a16:colId xmlns:a16="http://schemas.microsoft.com/office/drawing/2014/main" val="2897410958"/>
                    </a:ext>
                  </a:extLst>
                </a:gridCol>
              </a:tblGrid>
              <a:tr h="628261">
                <a:tc>
                  <a:txBody>
                    <a:bodyPr/>
                    <a:lstStyle/>
                    <a:p>
                      <a:r>
                        <a:rPr lang="en-US" dirty="0"/>
                        <a:t>Name</a:t>
                      </a:r>
                      <a:r>
                        <a:rPr lang="en-US" baseline="0" dirty="0"/>
                        <a:t> </a:t>
                      </a:r>
                      <a:endParaRPr lang="en-US" dirty="0"/>
                    </a:p>
                  </a:txBody>
                  <a:tcPr/>
                </a:tc>
                <a:tc>
                  <a:txBody>
                    <a:bodyPr/>
                    <a:lstStyle/>
                    <a:p>
                      <a:pPr algn="l"/>
                      <a:r>
                        <a:rPr lang="en-US" dirty="0"/>
                        <a:t>Id </a:t>
                      </a:r>
                    </a:p>
                  </a:txBody>
                  <a:tcPr/>
                </a:tc>
                <a:extLst>
                  <a:ext uri="{0D108BD9-81ED-4DB2-BD59-A6C34878D82A}">
                    <a16:rowId xmlns:a16="http://schemas.microsoft.com/office/drawing/2014/main" val="1357022059"/>
                  </a:ext>
                </a:extLst>
              </a:tr>
              <a:tr h="628261">
                <a:tc>
                  <a:txBody>
                    <a:bodyPr/>
                    <a:lstStyle/>
                    <a:p>
                      <a:pPr rtl="0" fontAlgn="b"/>
                      <a:r>
                        <a:rPr lang="en-US" b="0" dirty="0">
                          <a:effectLst/>
                          <a:latin typeface="Times New Roman" panose="02020603050405020304" pitchFamily="18" charset="0"/>
                        </a:rPr>
                        <a:t>Arafat Islam</a:t>
                      </a:r>
                    </a:p>
                  </a:txBody>
                  <a:tcPr marL="22860" marR="22860" marT="15240" marB="15240" anchor="b"/>
                </a:tc>
                <a:tc>
                  <a:txBody>
                    <a:bodyPr/>
                    <a:lstStyle/>
                    <a:p>
                      <a:pPr algn="ctr" rtl="0" fontAlgn="b"/>
                      <a:r>
                        <a:rPr lang="en-US" b="0" dirty="0">
                          <a:effectLst/>
                          <a:latin typeface="Times New Roman" panose="02020603050405020304" pitchFamily="18" charset="0"/>
                        </a:rPr>
                        <a:t>2022-3-60-303</a:t>
                      </a:r>
                    </a:p>
                  </a:txBody>
                  <a:tcPr marL="22860" marR="22860" marT="15240" marB="15240" anchor="b"/>
                </a:tc>
                <a:extLst>
                  <a:ext uri="{0D108BD9-81ED-4DB2-BD59-A6C34878D82A}">
                    <a16:rowId xmlns:a16="http://schemas.microsoft.com/office/drawing/2014/main" val="2633775210"/>
                  </a:ext>
                </a:extLst>
              </a:tr>
              <a:tr h="628261">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en-US" b="0" dirty="0" err="1">
                          <a:effectLst/>
                          <a:latin typeface="Times New Roman" panose="02020603050405020304" pitchFamily="18" charset="0"/>
                        </a:rPr>
                        <a:t>Bushra</a:t>
                      </a:r>
                      <a:r>
                        <a:rPr lang="en-US" b="0" dirty="0">
                          <a:effectLst/>
                          <a:latin typeface="Times New Roman" panose="02020603050405020304" pitchFamily="18" charset="0"/>
                        </a:rPr>
                        <a:t> Jahan </a:t>
                      </a:r>
                      <a:r>
                        <a:rPr lang="en-US" b="0" dirty="0" err="1">
                          <a:effectLst/>
                          <a:latin typeface="Times New Roman" panose="02020603050405020304" pitchFamily="18" charset="0"/>
                        </a:rPr>
                        <a:t>Monira</a:t>
                      </a:r>
                      <a:endParaRPr lang="en-US" b="0" dirty="0">
                        <a:effectLst/>
                        <a:latin typeface="Times New Roman" panose="02020603050405020304" pitchFamily="18" charset="0"/>
                      </a:endParaRPr>
                    </a:p>
                  </a:txBody>
                  <a:tcPr marL="22860" marR="22860" marT="15240" marB="15240" anchor="b"/>
                </a:tc>
                <a:tc>
                  <a:txBody>
                    <a:bodyPr/>
                    <a:lstStyle/>
                    <a:p>
                      <a:pPr marL="0" marR="0" indent="0" algn="ctr" defTabSz="457200" rtl="0" eaLnBrk="1" fontAlgn="b" latinLnBrk="0" hangingPunct="1">
                        <a:lnSpc>
                          <a:spcPct val="100000"/>
                        </a:lnSpc>
                        <a:spcBef>
                          <a:spcPts val="0"/>
                        </a:spcBef>
                        <a:spcAft>
                          <a:spcPts val="0"/>
                        </a:spcAft>
                        <a:buClrTx/>
                        <a:buSzTx/>
                        <a:buFontTx/>
                        <a:buNone/>
                        <a:tabLst/>
                        <a:defRPr/>
                      </a:pPr>
                      <a:r>
                        <a:rPr lang="en-US" b="0" dirty="0">
                          <a:effectLst/>
                          <a:latin typeface="Times New Roman" panose="02020603050405020304" pitchFamily="18" charset="0"/>
                        </a:rPr>
                        <a:t>2022-3-60-241</a:t>
                      </a:r>
                    </a:p>
                  </a:txBody>
                  <a:tcPr marL="22860" marR="22860" marT="15240" marB="15240" anchor="b"/>
                </a:tc>
                <a:extLst>
                  <a:ext uri="{0D108BD9-81ED-4DB2-BD59-A6C34878D82A}">
                    <a16:rowId xmlns:a16="http://schemas.microsoft.com/office/drawing/2014/main" val="3692184477"/>
                  </a:ext>
                </a:extLst>
              </a:tr>
              <a:tr h="628261">
                <a:tc>
                  <a:txBody>
                    <a:bodyPr/>
                    <a:lstStyle/>
                    <a:p>
                      <a:pPr rtl="0" fontAlgn="b"/>
                      <a:r>
                        <a:rPr lang="en-US" b="0">
                          <a:effectLst/>
                          <a:latin typeface="Times New Roman" panose="02020603050405020304" pitchFamily="18" charset="0"/>
                        </a:rPr>
                        <a:t>Abir Mohd.Sajedul Hossain </a:t>
                      </a:r>
                    </a:p>
                  </a:txBody>
                  <a:tcPr marL="22860" marR="22860" marT="15240" marB="15240" anchor="b"/>
                </a:tc>
                <a:tc>
                  <a:txBody>
                    <a:bodyPr/>
                    <a:lstStyle/>
                    <a:p>
                      <a:pPr algn="ctr" rtl="0" fontAlgn="b"/>
                      <a:r>
                        <a:rPr lang="en-US" b="0">
                          <a:effectLst/>
                          <a:latin typeface="Times New Roman" panose="02020603050405020304" pitchFamily="18" charset="0"/>
                        </a:rPr>
                        <a:t>2022-2-50-004</a:t>
                      </a:r>
                    </a:p>
                  </a:txBody>
                  <a:tcPr marL="22860" marR="22860" marT="15240" marB="15240" anchor="b"/>
                </a:tc>
                <a:extLst>
                  <a:ext uri="{0D108BD9-81ED-4DB2-BD59-A6C34878D82A}">
                    <a16:rowId xmlns:a16="http://schemas.microsoft.com/office/drawing/2014/main" val="2191620789"/>
                  </a:ext>
                </a:extLst>
              </a:tr>
              <a:tr h="628261">
                <a:tc>
                  <a:txBody>
                    <a:bodyPr/>
                    <a:lstStyle/>
                    <a:p>
                      <a:pPr rtl="0" fontAlgn="b"/>
                      <a:r>
                        <a:rPr lang="en-US" b="0">
                          <a:effectLst/>
                          <a:latin typeface="Times New Roman" panose="02020603050405020304" pitchFamily="18" charset="0"/>
                        </a:rPr>
                        <a:t>Khadiza Ahamed Tayeba</a:t>
                      </a:r>
                    </a:p>
                  </a:txBody>
                  <a:tcPr marL="22860" marR="22860" marT="15240" marB="15240" anchor="b"/>
                </a:tc>
                <a:tc>
                  <a:txBody>
                    <a:bodyPr/>
                    <a:lstStyle/>
                    <a:p>
                      <a:pPr algn="ctr" rtl="0" fontAlgn="b"/>
                      <a:r>
                        <a:rPr lang="en-US" b="0">
                          <a:effectLst/>
                          <a:latin typeface="Times New Roman" panose="02020603050405020304" pitchFamily="18" charset="0"/>
                        </a:rPr>
                        <a:t>2022-2-50-007</a:t>
                      </a:r>
                    </a:p>
                  </a:txBody>
                  <a:tcPr marL="22860" marR="22860" marT="15240" marB="15240" anchor="b"/>
                </a:tc>
                <a:extLst>
                  <a:ext uri="{0D108BD9-81ED-4DB2-BD59-A6C34878D82A}">
                    <a16:rowId xmlns:a16="http://schemas.microsoft.com/office/drawing/2014/main" val="2994654288"/>
                  </a:ext>
                </a:extLst>
              </a:tr>
              <a:tr h="628261">
                <a:tc>
                  <a:txBody>
                    <a:bodyPr/>
                    <a:lstStyle/>
                    <a:p>
                      <a:pPr rtl="0" fontAlgn="b"/>
                      <a:r>
                        <a:rPr lang="en-US" b="0">
                          <a:effectLst/>
                          <a:latin typeface="Times New Roman" panose="02020603050405020304" pitchFamily="18" charset="0"/>
                        </a:rPr>
                        <a:t>Pallon Nath</a:t>
                      </a:r>
                    </a:p>
                  </a:txBody>
                  <a:tcPr marL="22860" marR="22860" marT="15240" marB="15240" anchor="b"/>
                </a:tc>
                <a:tc>
                  <a:txBody>
                    <a:bodyPr/>
                    <a:lstStyle/>
                    <a:p>
                      <a:pPr algn="ctr" rtl="0" fontAlgn="b"/>
                      <a:r>
                        <a:rPr lang="en-US" b="0" dirty="0">
                          <a:effectLst/>
                          <a:latin typeface="Times New Roman" panose="02020603050405020304" pitchFamily="18" charset="0"/>
                        </a:rPr>
                        <a:t>2022-3-60-223</a:t>
                      </a:r>
                    </a:p>
                  </a:txBody>
                  <a:tcPr marL="22860" marR="22860" marT="15240" marB="15240" anchor="b"/>
                </a:tc>
                <a:extLst>
                  <a:ext uri="{0D108BD9-81ED-4DB2-BD59-A6C34878D82A}">
                    <a16:rowId xmlns:a16="http://schemas.microsoft.com/office/drawing/2014/main" val="4055750083"/>
                  </a:ext>
                </a:extLst>
              </a:tr>
            </a:tbl>
          </a:graphicData>
        </a:graphic>
      </p:graphicFrame>
    </p:spTree>
    <p:extLst>
      <p:ext uri="{BB962C8B-B14F-4D97-AF65-F5344CB8AC3E}">
        <p14:creationId xmlns:p14="http://schemas.microsoft.com/office/powerpoint/2010/main" val="1151193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a:xfrm>
            <a:off x="1539551" y="1548882"/>
            <a:ext cx="6994849" cy="4516016"/>
          </a:xfrm>
        </p:spPr>
        <p:txBody>
          <a:bodyPr>
            <a:normAutofit/>
          </a:bodyPr>
          <a:lstStyle/>
          <a:p>
            <a:r>
              <a:rPr lang="en-US" sz="2000" dirty="0">
                <a:latin typeface="Cambria" panose="02040503050406030204" pitchFamily="18" charset="0"/>
                <a:ea typeface="Cambria" panose="02040503050406030204" pitchFamily="18" charset="0"/>
              </a:rPr>
              <a:t>Tree Plant Village is a deep learning–based project designed to detect plant diseases automatically using leaf images. In this project, image data of plant leaves is collected from the well-known </a:t>
            </a:r>
            <a:r>
              <a:rPr lang="en-US" sz="2000" dirty="0" err="1">
                <a:latin typeface="Cambria" panose="02040503050406030204" pitchFamily="18" charset="0"/>
                <a:ea typeface="Cambria" panose="02040503050406030204" pitchFamily="18" charset="0"/>
              </a:rPr>
              <a:t>PlantVillage</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dataset.The</a:t>
            </a:r>
            <a:r>
              <a:rPr lang="en-US" sz="2000" dirty="0">
                <a:latin typeface="Cambria" panose="02040503050406030204" pitchFamily="18" charset="0"/>
                <a:ea typeface="Cambria" panose="02040503050406030204" pitchFamily="18" charset="0"/>
              </a:rPr>
              <a:t> dataset contains images of both healthy and diseased plant leaves from different plant categories. By using a Convolutional Neural Network (CNN), the system learns important visual features from the leaf images and classifies them as healthy or diseased. The main goal of this project is to help in early disease detection, which can support farmers and reduce crop loss through timely action..</a:t>
            </a: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09"/>
            <a:ext cx="6589199" cy="523555"/>
          </a:xfrm>
        </p:spPr>
        <p:txBody>
          <a:bodyPr>
            <a:normAutofit fontScale="90000"/>
          </a:bodyPr>
          <a:lstStyle/>
          <a:p>
            <a:r>
              <a:rPr lang="en-US" sz="3600" dirty="0"/>
              <a:t>Dataset Overview</a:t>
            </a:r>
            <a:br>
              <a:rPr lang="en-US" sz="3200" dirty="0"/>
            </a:br>
            <a:endParaRPr sz="3200" dirty="0"/>
          </a:p>
        </p:txBody>
      </p:sp>
      <p:sp>
        <p:nvSpPr>
          <p:cNvPr id="7" name="TextBox 6"/>
          <p:cNvSpPr txBox="1"/>
          <p:nvPr/>
        </p:nvSpPr>
        <p:spPr>
          <a:xfrm>
            <a:off x="1091682" y="1604865"/>
            <a:ext cx="3424333" cy="2031325"/>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Dataset Source: </a:t>
            </a:r>
            <a:r>
              <a:rPr lang="en-US" b="1" dirty="0" err="1">
                <a:latin typeface="Cambria" panose="02040503050406030204" pitchFamily="18" charset="0"/>
                <a:ea typeface="Cambria" panose="02040503050406030204" pitchFamily="18" charset="0"/>
              </a:rPr>
              <a:t>PlantVillage</a:t>
            </a:r>
            <a:r>
              <a:rPr lang="en-US" b="1" dirty="0">
                <a:latin typeface="Cambria" panose="02040503050406030204" pitchFamily="18" charset="0"/>
                <a:ea typeface="Cambria" panose="02040503050406030204" pitchFamily="18" charset="0"/>
              </a:rPr>
              <a:t> Dataset (</a:t>
            </a:r>
            <a:r>
              <a:rPr lang="en-US" b="1" dirty="0" err="1">
                <a:latin typeface="Cambria" panose="02040503050406030204" pitchFamily="18" charset="0"/>
                <a:ea typeface="Cambria" panose="02040503050406030204" pitchFamily="18" charset="0"/>
              </a:rPr>
              <a:t>Kaggle</a:t>
            </a:r>
            <a:r>
              <a:rPr lang="en-US" b="1" dirty="0">
                <a:latin typeface="Cambria" panose="02040503050406030204" pitchFamily="18" charset="0"/>
                <a:ea typeface="Cambria" panose="02040503050406030204" pitchFamily="18" charset="0"/>
              </a:rPr>
              <a:t>)</a:t>
            </a:r>
          </a:p>
          <a:p>
            <a:r>
              <a:rPr lang="en-US" dirty="0">
                <a:latin typeface="Cambria" panose="02040503050406030204" pitchFamily="18" charset="0"/>
                <a:ea typeface="Cambria" panose="02040503050406030204" pitchFamily="18" charset="0"/>
              </a:rPr>
              <a:t>A publicly available dataset collected from </a:t>
            </a:r>
            <a:r>
              <a:rPr lang="en-US" dirty="0" err="1">
                <a:latin typeface="Cambria" panose="02040503050406030204" pitchFamily="18" charset="0"/>
                <a:ea typeface="Cambria" panose="02040503050406030204" pitchFamily="18" charset="0"/>
              </a:rPr>
              <a:t>Kaggle</a:t>
            </a:r>
            <a:r>
              <a:rPr lang="en-US" dirty="0">
                <a:latin typeface="Cambria" panose="02040503050406030204" pitchFamily="18" charset="0"/>
                <a:ea typeface="Cambria" panose="02040503050406030204" pitchFamily="18" charset="0"/>
              </a:rPr>
              <a:t>, widely used for plant disease detection research.</a:t>
            </a:r>
          </a:p>
          <a:p>
            <a:endParaRPr lang="en-US" dirty="0"/>
          </a:p>
        </p:txBody>
      </p:sp>
      <p:sp>
        <p:nvSpPr>
          <p:cNvPr id="8" name="TextBox 7"/>
          <p:cNvSpPr txBox="1"/>
          <p:nvPr/>
        </p:nvSpPr>
        <p:spPr>
          <a:xfrm>
            <a:off x="5197151" y="1623527"/>
            <a:ext cx="3337249" cy="1477328"/>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Contains images of healthy and diseased plant leaves</a:t>
            </a:r>
          </a:p>
          <a:p>
            <a:r>
              <a:rPr lang="en-US" dirty="0">
                <a:latin typeface="Cambria" panose="02040503050406030204" pitchFamily="18" charset="0"/>
                <a:ea typeface="Cambria" panose="02040503050406030204" pitchFamily="18" charset="0"/>
              </a:rPr>
              <a:t>Includes leaf images of both healthy plants and plants affected by different diseases.</a:t>
            </a:r>
          </a:p>
        </p:txBody>
      </p:sp>
      <p:sp>
        <p:nvSpPr>
          <p:cNvPr id="9" name="TextBox 8"/>
          <p:cNvSpPr txBox="1"/>
          <p:nvPr/>
        </p:nvSpPr>
        <p:spPr>
          <a:xfrm>
            <a:off x="1091682" y="3816392"/>
            <a:ext cx="2929812" cy="2031325"/>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Multiple plant categories and disease classes</a:t>
            </a:r>
          </a:p>
          <a:p>
            <a:r>
              <a:rPr lang="en-US" dirty="0">
                <a:latin typeface="Cambria" panose="02040503050406030204" pitchFamily="18" charset="0"/>
                <a:ea typeface="Cambria" panose="02040503050406030204" pitchFamily="18" charset="0"/>
              </a:rPr>
              <a:t>Covers various plant types, each having multiple disease categories, making it a multi-class problem</a:t>
            </a:r>
            <a:r>
              <a:rPr lang="en-US" dirty="0"/>
              <a:t>.</a:t>
            </a:r>
          </a:p>
          <a:p>
            <a:endParaRPr lang="en-US" dirty="0"/>
          </a:p>
        </p:txBody>
      </p:sp>
      <p:sp>
        <p:nvSpPr>
          <p:cNvPr id="10" name="TextBox 9"/>
          <p:cNvSpPr txBox="1"/>
          <p:nvPr/>
        </p:nvSpPr>
        <p:spPr>
          <a:xfrm>
            <a:off x="4960774" y="3954891"/>
            <a:ext cx="3610947" cy="1754326"/>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Images are divided into training and testing sets</a:t>
            </a:r>
          </a:p>
          <a:p>
            <a:r>
              <a:rPr lang="en-US" dirty="0">
                <a:latin typeface="Cambria" panose="02040503050406030204" pitchFamily="18" charset="0"/>
                <a:ea typeface="Cambria" panose="02040503050406030204" pitchFamily="18" charset="0"/>
              </a:rPr>
              <a:t>The dataset is split into training and testing sets to train the model and evaluate its performance.</a:t>
            </a: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t>Task 1: Exploratory Data Analysis (EDA)</a:t>
            </a:r>
          </a:p>
        </p:txBody>
      </p:sp>
      <p:sp>
        <p:nvSpPr>
          <p:cNvPr id="3" name="Content Placeholder 2"/>
          <p:cNvSpPr>
            <a:spLocks noGrp="1"/>
          </p:cNvSpPr>
          <p:nvPr>
            <p:ph idx="1"/>
          </p:nvPr>
        </p:nvSpPr>
        <p:spPr>
          <a:xfrm>
            <a:off x="484710" y="1763487"/>
            <a:ext cx="7996818" cy="4147736"/>
          </a:xfrm>
        </p:spPr>
        <p:txBody>
          <a:bodyPr>
            <a:normAutofit lnSpcReduction="10000"/>
          </a:bodyPr>
          <a:lstStyle/>
          <a:p>
            <a:pPr marL="0" indent="0">
              <a:buNone/>
            </a:pPr>
            <a:endParaRPr lang="en-US" b="1" dirty="0"/>
          </a:p>
          <a:p>
            <a:r>
              <a:rPr lang="en-US" b="1" dirty="0">
                <a:latin typeface="Cambria" panose="02040503050406030204" pitchFamily="18" charset="0"/>
                <a:ea typeface="Cambria" panose="02040503050406030204" pitchFamily="18" charset="0"/>
                <a:cs typeface="Times New Roman" panose="02020603050405020304" pitchFamily="18" charset="0"/>
              </a:rPr>
              <a:t>Dataset Structure &amp; Class Distribution:</a:t>
            </a:r>
            <a:br>
              <a:rPr lang="en-US" dirty="0">
                <a:latin typeface="Cambria" panose="02040503050406030204" pitchFamily="18" charset="0"/>
                <a:ea typeface="Cambria" panose="02040503050406030204" pitchFamily="18" charset="0"/>
                <a:cs typeface="Times New Roman" panose="02020603050405020304" pitchFamily="18" charset="0"/>
              </a:rPr>
            </a:br>
            <a:r>
              <a:rPr lang="en-US" dirty="0">
                <a:latin typeface="Cambria" panose="02040503050406030204" pitchFamily="18" charset="0"/>
                <a:ea typeface="Cambria" panose="02040503050406030204" pitchFamily="18" charset="0"/>
                <a:cs typeface="Times New Roman" panose="02020603050405020304" pitchFamily="18" charset="0"/>
              </a:rPr>
              <a:t>Analyzed dataset folders, image formats, and distribution of different classes.</a:t>
            </a:r>
          </a:p>
          <a:p>
            <a:r>
              <a:rPr lang="en-US" b="1" dirty="0">
                <a:latin typeface="Cambria" panose="02040503050406030204" pitchFamily="18" charset="0"/>
                <a:ea typeface="Cambria" panose="02040503050406030204" pitchFamily="18" charset="0"/>
                <a:cs typeface="Times New Roman" panose="02020603050405020304" pitchFamily="18" charset="0"/>
              </a:rPr>
              <a:t>Images per Class:</a:t>
            </a:r>
            <a:br>
              <a:rPr lang="en-US" dirty="0">
                <a:latin typeface="Cambria" panose="02040503050406030204" pitchFamily="18" charset="0"/>
                <a:ea typeface="Cambria" panose="02040503050406030204" pitchFamily="18" charset="0"/>
                <a:cs typeface="Times New Roman" panose="02020603050405020304" pitchFamily="18" charset="0"/>
              </a:rPr>
            </a:br>
            <a:r>
              <a:rPr lang="en-US" dirty="0">
                <a:latin typeface="Cambria" panose="02040503050406030204" pitchFamily="18" charset="0"/>
                <a:ea typeface="Cambria" panose="02040503050406030204" pitchFamily="18" charset="0"/>
                <a:cs typeface="Times New Roman" panose="02020603050405020304" pitchFamily="18" charset="0"/>
              </a:rPr>
              <a:t>Checked the number of images in each class to understand data balance.</a:t>
            </a:r>
          </a:p>
          <a:p>
            <a:r>
              <a:rPr lang="en-US" b="1" dirty="0">
                <a:latin typeface="Cambria" panose="02040503050406030204" pitchFamily="18" charset="0"/>
                <a:ea typeface="Cambria" panose="02040503050406030204" pitchFamily="18" charset="0"/>
                <a:cs typeface="Times New Roman" panose="02020603050405020304" pitchFamily="18" charset="0"/>
              </a:rPr>
              <a:t>Sample Image Visualization:</a:t>
            </a:r>
            <a:br>
              <a:rPr lang="en-US" dirty="0">
                <a:latin typeface="Cambria" panose="02040503050406030204" pitchFamily="18" charset="0"/>
                <a:ea typeface="Cambria" panose="02040503050406030204" pitchFamily="18" charset="0"/>
                <a:cs typeface="Times New Roman" panose="02020603050405020304" pitchFamily="18" charset="0"/>
              </a:rPr>
            </a:br>
            <a:r>
              <a:rPr lang="en-US" dirty="0">
                <a:latin typeface="Cambria" panose="02040503050406030204" pitchFamily="18" charset="0"/>
                <a:ea typeface="Cambria" panose="02040503050406030204" pitchFamily="18" charset="0"/>
                <a:cs typeface="Times New Roman" panose="02020603050405020304" pitchFamily="18" charset="0"/>
              </a:rPr>
              <a:t>Displayed sample images from different plant categories and diseases.</a:t>
            </a:r>
          </a:p>
          <a:p>
            <a:r>
              <a:rPr lang="en-US" b="1" dirty="0">
                <a:latin typeface="Cambria" panose="02040503050406030204" pitchFamily="18" charset="0"/>
                <a:ea typeface="Cambria" panose="02040503050406030204" pitchFamily="18" charset="0"/>
                <a:cs typeface="Times New Roman" panose="02020603050405020304" pitchFamily="18" charset="0"/>
              </a:rPr>
              <a:t>Class Imbalance &amp; Image Patterns:</a:t>
            </a:r>
            <a:br>
              <a:rPr lang="en-US" dirty="0">
                <a:latin typeface="Cambria" panose="02040503050406030204" pitchFamily="18" charset="0"/>
                <a:ea typeface="Cambria" panose="02040503050406030204" pitchFamily="18" charset="0"/>
                <a:cs typeface="Times New Roman" panose="02020603050405020304" pitchFamily="18" charset="0"/>
              </a:rPr>
            </a:br>
            <a:r>
              <a:rPr lang="en-US" dirty="0">
                <a:latin typeface="Cambria" panose="02040503050406030204" pitchFamily="18" charset="0"/>
                <a:ea typeface="Cambria" panose="02040503050406030204" pitchFamily="18" charset="0"/>
                <a:cs typeface="Times New Roman" panose="02020603050405020304" pitchFamily="18" charset="0"/>
              </a:rPr>
              <a:t>Identified class imbalance and observed image resolution variations</a:t>
            </a:r>
            <a:r>
              <a:rPr lang="en-US" dirty="0">
                <a:latin typeface="Times New Roman" panose="02020603050405020304" pitchFamily="18" charset="0"/>
                <a:cs typeface="Times New Roman" panose="02020603050405020304" pitchFamily="18" charset="0"/>
              </a:rPr>
              <a:t>.</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Task-2: Transfer Learning Workflow</a:t>
            </a:r>
            <a:endParaRPr sz="3200" dirty="0"/>
          </a:p>
        </p:txBody>
      </p:sp>
      <p:sp>
        <p:nvSpPr>
          <p:cNvPr id="3" name="Content Placeholder 2"/>
          <p:cNvSpPr>
            <a:spLocks noGrp="1"/>
          </p:cNvSpPr>
          <p:nvPr>
            <p:ph idx="1"/>
          </p:nvPr>
        </p:nvSpPr>
        <p:spPr>
          <a:xfrm>
            <a:off x="400735" y="2444621"/>
            <a:ext cx="7862596" cy="3508309"/>
          </a:xfrm>
        </p:spPr>
        <p:txBody>
          <a:bodyPr>
            <a:normAutofit/>
          </a:bodyPr>
          <a:lstStyle/>
          <a:p>
            <a:r>
              <a:rPr lang="en-US" dirty="0">
                <a:latin typeface="Cambria" panose="02040503050406030204" pitchFamily="18" charset="0"/>
                <a:ea typeface="Cambria" panose="02040503050406030204" pitchFamily="18" charset="0"/>
              </a:rPr>
              <a:t>Select </a:t>
            </a:r>
            <a:r>
              <a:rPr lang="en-US" dirty="0" err="1">
                <a:latin typeface="Cambria" panose="02040503050406030204" pitchFamily="18" charset="0"/>
                <a:ea typeface="Cambria" panose="02040503050406030204" pitchFamily="18" charset="0"/>
              </a:rPr>
              <a:t>PlantVillage</a:t>
            </a:r>
            <a:r>
              <a:rPr lang="en-US" dirty="0">
                <a:latin typeface="Cambria" panose="02040503050406030204" pitchFamily="18" charset="0"/>
                <a:ea typeface="Cambria" panose="02040503050406030204" pitchFamily="18" charset="0"/>
              </a:rPr>
              <a:t> dataset (only tomato classes – 10 classes)</a:t>
            </a:r>
          </a:p>
          <a:p>
            <a:r>
              <a:rPr lang="en-US" dirty="0">
                <a:latin typeface="Cambria" panose="02040503050406030204" pitchFamily="18" charset="0"/>
                <a:ea typeface="Cambria" panose="02040503050406030204" pitchFamily="18" charset="0"/>
              </a:rPr>
              <a:t>Resize and normalize tomato leaf images</a:t>
            </a:r>
          </a:p>
          <a:p>
            <a:r>
              <a:rPr lang="en-US" dirty="0">
                <a:latin typeface="Cambria" panose="02040503050406030204" pitchFamily="18" charset="0"/>
                <a:ea typeface="Cambria" panose="02040503050406030204" pitchFamily="18" charset="0"/>
              </a:rPr>
              <a:t>Load pre-trained models (VGG16, ResNet50, EfficientNetB0)</a:t>
            </a:r>
          </a:p>
          <a:p>
            <a:r>
              <a:rPr lang="en-US" dirty="0">
                <a:latin typeface="Cambria" panose="02040503050406030204" pitchFamily="18" charset="0"/>
                <a:ea typeface="Cambria" panose="02040503050406030204" pitchFamily="18" charset="0"/>
              </a:rPr>
              <a:t>Freeze pre-trained layers to retain learned features</a:t>
            </a:r>
          </a:p>
          <a:p>
            <a:r>
              <a:rPr lang="en-US" dirty="0">
                <a:latin typeface="Cambria" panose="02040503050406030204" pitchFamily="18" charset="0"/>
                <a:ea typeface="Cambria" panose="02040503050406030204" pitchFamily="18" charset="0"/>
              </a:rPr>
              <a:t>Add custom classification layers for tomato diseases</a:t>
            </a:r>
          </a:p>
          <a:p>
            <a:r>
              <a:rPr lang="en-US" dirty="0">
                <a:latin typeface="Cambria" panose="02040503050406030204" pitchFamily="18" charset="0"/>
                <a:ea typeface="Cambria" panose="02040503050406030204" pitchFamily="18" charset="0"/>
              </a:rPr>
              <a:t>Train the models using the training dataset</a:t>
            </a:r>
          </a:p>
          <a:p>
            <a:r>
              <a:rPr lang="en-US" dirty="0">
                <a:latin typeface="Cambria" panose="02040503050406030204" pitchFamily="18" charset="0"/>
                <a:ea typeface="Cambria" panose="02040503050406030204" pitchFamily="18" charset="0"/>
              </a:rPr>
              <a:t>Evaluate performance using test data</a:t>
            </a:r>
          </a:p>
          <a:p>
            <a:r>
              <a:rPr lang="en-US" dirty="0">
                <a:latin typeface="Cambria" panose="02040503050406030204" pitchFamily="18" charset="0"/>
                <a:ea typeface="Cambria" panose="02040503050406030204" pitchFamily="18" charset="0"/>
              </a:rPr>
              <a:t>Compare results using accuracy and F1-macro score</a:t>
            </a:r>
            <a:endParaRPr sz="2000" dirty="0">
              <a:latin typeface="Cambria" panose="02040503050406030204" pitchFamily="18" charset="0"/>
              <a:ea typeface="Cambria" panose="02040503050406030204" pitchFamily="18" charset="0"/>
            </a:endParaRPr>
          </a:p>
        </p:txBody>
      </p:sp>
      <p:sp>
        <p:nvSpPr>
          <p:cNvPr id="4" name="TextBox 3"/>
          <p:cNvSpPr txBox="1"/>
          <p:nvPr/>
        </p:nvSpPr>
        <p:spPr>
          <a:xfrm>
            <a:off x="484711" y="1442701"/>
            <a:ext cx="7570960" cy="646331"/>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To build a strong baseline model for tomato leaf disease classification using pre-trained CNNs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Task-2: Transfer Learning Workflow</a:t>
            </a:r>
            <a:endParaRPr lang="en-US" dirty="0"/>
          </a:p>
        </p:txBody>
      </p:sp>
      <p:sp>
        <p:nvSpPr>
          <p:cNvPr id="3" name="Content Placeholder 2"/>
          <p:cNvSpPr>
            <a:spLocks noGrp="1"/>
          </p:cNvSpPr>
          <p:nvPr>
            <p:ph idx="1"/>
          </p:nvPr>
        </p:nvSpPr>
        <p:spPr>
          <a:xfrm>
            <a:off x="827700" y="2323322"/>
            <a:ext cx="6711654" cy="2379307"/>
          </a:xfrm>
        </p:spPr>
        <p:txBody>
          <a:bodyPr/>
          <a:lstStyle/>
          <a:p>
            <a:r>
              <a:rPr lang="en-US" sz="2400" b="1" dirty="0">
                <a:latin typeface="Cambria" panose="02040503050406030204" pitchFamily="18" charset="0"/>
                <a:ea typeface="Cambria" panose="02040503050406030204" pitchFamily="18" charset="0"/>
              </a:rPr>
              <a:t>Outcome</a:t>
            </a:r>
          </a:p>
          <a:p>
            <a:endParaRPr lang="en-US" dirty="0"/>
          </a:p>
          <a:p>
            <a:r>
              <a:rPr lang="en-US" dirty="0">
                <a:latin typeface="Cambria" panose="02040503050406030204" pitchFamily="18" charset="0"/>
                <a:ea typeface="Cambria" panose="02040503050406030204" pitchFamily="18" charset="0"/>
              </a:rPr>
              <a:t>Transfer learning provides a reliable baseline, but performance is limited due to generic features learned from non-agricultural images</a:t>
            </a:r>
            <a:r>
              <a:rPr lang="en-US" dirty="0"/>
              <a:t>.</a:t>
            </a:r>
          </a:p>
        </p:txBody>
      </p:sp>
    </p:spTree>
    <p:extLst>
      <p:ext uri="{BB962C8B-B14F-4D97-AF65-F5344CB8AC3E}">
        <p14:creationId xmlns:p14="http://schemas.microsoft.com/office/powerpoint/2010/main" val="226186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Task-3: Custom CNN Workflow (Best Performing Model</a:t>
            </a:r>
            <a:endParaRPr sz="3200" dirty="0"/>
          </a:p>
        </p:txBody>
      </p:sp>
      <p:sp>
        <p:nvSpPr>
          <p:cNvPr id="3" name="Content Placeholder 2"/>
          <p:cNvSpPr>
            <a:spLocks noGrp="1"/>
          </p:cNvSpPr>
          <p:nvPr>
            <p:ph idx="1"/>
          </p:nvPr>
        </p:nvSpPr>
        <p:spPr>
          <a:xfrm>
            <a:off x="827700" y="2528596"/>
            <a:ext cx="6711654" cy="4049486"/>
          </a:xfrm>
        </p:spPr>
        <p:txBody>
          <a:bodyPr>
            <a:normAutofit/>
          </a:bodyPr>
          <a:lstStyle/>
          <a:p>
            <a:r>
              <a:rPr lang="en-US" dirty="0">
                <a:latin typeface="Cambria" panose="02040503050406030204" pitchFamily="18" charset="0"/>
                <a:ea typeface="Cambria" panose="02040503050406030204" pitchFamily="18" charset="0"/>
              </a:rPr>
              <a:t>Input tomato leaf images into the custom CNN</a:t>
            </a:r>
          </a:p>
          <a:p>
            <a:r>
              <a:rPr lang="en-US" dirty="0">
                <a:latin typeface="Cambria" panose="02040503050406030204" pitchFamily="18" charset="0"/>
                <a:ea typeface="Cambria" panose="02040503050406030204" pitchFamily="18" charset="0"/>
              </a:rPr>
              <a:t>Apply convolution layers to extract disease-related features</a:t>
            </a:r>
          </a:p>
          <a:p>
            <a:r>
              <a:rPr lang="en-US" dirty="0">
                <a:latin typeface="Cambria" panose="02040503050406030204" pitchFamily="18" charset="0"/>
                <a:ea typeface="Cambria" panose="02040503050406030204" pitchFamily="18" charset="0"/>
              </a:rPr>
              <a:t>Use </a:t>
            </a:r>
            <a:r>
              <a:rPr lang="en-US" dirty="0" err="1">
                <a:latin typeface="Cambria" panose="02040503050406030204" pitchFamily="18" charset="0"/>
                <a:ea typeface="Cambria" panose="02040503050406030204" pitchFamily="18" charset="0"/>
              </a:rPr>
              <a:t>ReLU</a:t>
            </a:r>
            <a:r>
              <a:rPr lang="en-US" dirty="0">
                <a:latin typeface="Cambria" panose="02040503050406030204" pitchFamily="18" charset="0"/>
                <a:ea typeface="Cambria" panose="02040503050406030204" pitchFamily="18" charset="0"/>
              </a:rPr>
              <a:t> activation to introduce non-linearity</a:t>
            </a:r>
          </a:p>
          <a:p>
            <a:r>
              <a:rPr lang="en-US" dirty="0">
                <a:latin typeface="Cambria" panose="02040503050406030204" pitchFamily="18" charset="0"/>
                <a:ea typeface="Cambria" panose="02040503050406030204" pitchFamily="18" charset="0"/>
              </a:rPr>
              <a:t>Apply max-pooling to reduce spatial dimensions</a:t>
            </a:r>
          </a:p>
          <a:p>
            <a:r>
              <a:rPr lang="en-US" dirty="0">
                <a:latin typeface="Cambria" panose="02040503050406030204" pitchFamily="18" charset="0"/>
                <a:ea typeface="Cambria" panose="02040503050406030204" pitchFamily="18" charset="0"/>
              </a:rPr>
              <a:t>Use dropout layers to prevent overfitting</a:t>
            </a:r>
          </a:p>
          <a:p>
            <a:r>
              <a:rPr lang="en-US" dirty="0">
                <a:latin typeface="Cambria" panose="02040503050406030204" pitchFamily="18" charset="0"/>
                <a:ea typeface="Cambria" panose="02040503050406030204" pitchFamily="18" charset="0"/>
              </a:rPr>
              <a:t>Convert extracted features using global average pooling</a:t>
            </a:r>
          </a:p>
          <a:p>
            <a:r>
              <a:rPr lang="en-US" dirty="0">
                <a:latin typeface="Cambria" panose="02040503050406030204" pitchFamily="18" charset="0"/>
                <a:ea typeface="Cambria" panose="02040503050406030204" pitchFamily="18" charset="0"/>
              </a:rPr>
              <a:t>Classify diseases using fully connected layers</a:t>
            </a:r>
          </a:p>
          <a:p>
            <a:r>
              <a:rPr lang="en-US" dirty="0">
                <a:latin typeface="Cambria" panose="02040503050406030204" pitchFamily="18" charset="0"/>
                <a:ea typeface="Cambria" panose="02040503050406030204" pitchFamily="18" charset="0"/>
              </a:rPr>
              <a:t>Output final prediction using </a:t>
            </a:r>
            <a:r>
              <a:rPr lang="en-US" dirty="0" err="1">
                <a:latin typeface="Cambria" panose="02040503050406030204" pitchFamily="18" charset="0"/>
                <a:ea typeface="Cambria" panose="02040503050406030204" pitchFamily="18" charset="0"/>
              </a:rPr>
              <a:t>Softmax</a:t>
            </a:r>
            <a:r>
              <a:rPr lang="en-US" dirty="0">
                <a:latin typeface="Cambria" panose="02040503050406030204" pitchFamily="18" charset="0"/>
                <a:ea typeface="Cambria" panose="02040503050406030204" pitchFamily="18" charset="0"/>
              </a:rPr>
              <a:t> activation</a:t>
            </a:r>
            <a:r>
              <a:rPr sz="2000" dirty="0"/>
              <a:t>.</a:t>
            </a:r>
          </a:p>
        </p:txBody>
      </p:sp>
      <p:sp>
        <p:nvSpPr>
          <p:cNvPr id="4" name="TextBox 3"/>
          <p:cNvSpPr txBox="1"/>
          <p:nvPr/>
        </p:nvSpPr>
        <p:spPr>
          <a:xfrm>
            <a:off x="727788" y="1685297"/>
            <a:ext cx="6913983"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To design a CNN architecture specifically optimized for tomato leaf disease classification</a:t>
            </a: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Task-3: Custom CNN Workflow (Best Performing Model</a:t>
            </a:r>
          </a:p>
        </p:txBody>
      </p:sp>
      <p:sp>
        <p:nvSpPr>
          <p:cNvPr id="3" name="Content Placeholder 2"/>
          <p:cNvSpPr>
            <a:spLocks noGrp="1"/>
          </p:cNvSpPr>
          <p:nvPr>
            <p:ph idx="1"/>
          </p:nvPr>
        </p:nvSpPr>
        <p:spPr>
          <a:xfrm>
            <a:off x="827700" y="2789853"/>
            <a:ext cx="6711654" cy="3458553"/>
          </a:xfrm>
        </p:spPr>
        <p:txBody>
          <a:bodyPr/>
          <a:lstStyle/>
          <a:p>
            <a:r>
              <a:rPr lang="en-US" b="1" dirty="0">
                <a:latin typeface="Cambria" panose="02040503050406030204" pitchFamily="18" charset="0"/>
                <a:ea typeface="Cambria" panose="02040503050406030204" pitchFamily="18" charset="0"/>
              </a:rPr>
              <a:t>Outcome</a:t>
            </a:r>
            <a:r>
              <a:rPr lang="en-US" dirty="0"/>
              <a:t> </a:t>
            </a:r>
          </a:p>
          <a:p>
            <a:endParaRPr lang="en-US" dirty="0"/>
          </a:p>
          <a:p>
            <a:r>
              <a:rPr lang="en-US" dirty="0">
                <a:latin typeface="Cambria" panose="02040503050406030204" pitchFamily="18" charset="0"/>
                <a:ea typeface="Cambria" panose="02040503050406030204" pitchFamily="18" charset="0"/>
              </a:rPr>
              <a:t>The custom CNN achieves the highest accuracy and F1-macro score due to dataset-specific learning and reduced model complexity</a:t>
            </a:r>
            <a:r>
              <a:rPr lang="en-US" dirty="0"/>
              <a:t>.</a:t>
            </a:r>
          </a:p>
        </p:txBody>
      </p:sp>
    </p:spTree>
    <p:extLst>
      <p:ext uri="{BB962C8B-B14F-4D97-AF65-F5344CB8AC3E}">
        <p14:creationId xmlns:p14="http://schemas.microsoft.com/office/powerpoint/2010/main" val="3136345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3" y="124374"/>
            <a:ext cx="6731199" cy="1400530"/>
          </a:xfrm>
        </p:spPr>
        <p:txBody>
          <a:bodyPr/>
          <a:lstStyle/>
          <a:p>
            <a:r>
              <a:rPr lang="en-US" sz="2800" dirty="0"/>
              <a:t>Task-4: Advanced CNN (</a:t>
            </a:r>
            <a:r>
              <a:rPr lang="en-US" sz="2800" dirty="0" err="1"/>
              <a:t>CGNet</a:t>
            </a:r>
            <a:r>
              <a:rPr lang="en-US" sz="2800" dirty="0"/>
              <a:t> / Attention-Based Model) Workflow</a:t>
            </a:r>
            <a:endParaRPr sz="2800" dirty="0"/>
          </a:p>
        </p:txBody>
      </p:sp>
      <p:sp>
        <p:nvSpPr>
          <p:cNvPr id="3" name="Content Placeholder 2"/>
          <p:cNvSpPr>
            <a:spLocks noGrp="1"/>
          </p:cNvSpPr>
          <p:nvPr>
            <p:ph idx="1"/>
          </p:nvPr>
        </p:nvSpPr>
        <p:spPr>
          <a:xfrm>
            <a:off x="697089" y="2229681"/>
            <a:ext cx="6711654" cy="4084295"/>
          </a:xfrm>
        </p:spPr>
        <p:txBody>
          <a:bodyPr>
            <a:normAutofit/>
          </a:bodyPr>
          <a:lstStyle/>
          <a:p>
            <a:r>
              <a:rPr lang="en-US" dirty="0">
                <a:latin typeface="Cambria" panose="02040503050406030204" pitchFamily="18" charset="0"/>
                <a:ea typeface="Cambria" panose="02040503050406030204" pitchFamily="18" charset="0"/>
              </a:rPr>
              <a:t>Input tomato leaf images into an advanced CNN architecture</a:t>
            </a:r>
          </a:p>
          <a:p>
            <a:r>
              <a:rPr lang="en-US" dirty="0">
                <a:latin typeface="Cambria" panose="02040503050406030204" pitchFamily="18" charset="0"/>
                <a:ea typeface="Cambria" panose="02040503050406030204" pitchFamily="18" charset="0"/>
              </a:rPr>
              <a:t>Extract hierarchical features using deeper convolution layers</a:t>
            </a:r>
          </a:p>
          <a:p>
            <a:r>
              <a:rPr lang="en-US" dirty="0">
                <a:latin typeface="Cambria" panose="02040503050406030204" pitchFamily="18" charset="0"/>
                <a:ea typeface="Cambria" panose="02040503050406030204" pitchFamily="18" charset="0"/>
              </a:rPr>
              <a:t>Emphasize important disease regions using efficient feature learning</a:t>
            </a:r>
          </a:p>
          <a:p>
            <a:r>
              <a:rPr lang="en-US" dirty="0">
                <a:latin typeface="Cambria" panose="02040503050406030204" pitchFamily="18" charset="0"/>
                <a:ea typeface="Cambria" panose="02040503050406030204" pitchFamily="18" charset="0"/>
              </a:rPr>
              <a:t>Reduce redundant information through optimized network design</a:t>
            </a:r>
          </a:p>
          <a:p>
            <a:r>
              <a:rPr lang="en-US" dirty="0">
                <a:latin typeface="Cambria" panose="02040503050406030204" pitchFamily="18" charset="0"/>
                <a:ea typeface="Cambria" panose="02040503050406030204" pitchFamily="18" charset="0"/>
              </a:rPr>
              <a:t>Train the model with the same dataset for fair comparison</a:t>
            </a:r>
          </a:p>
          <a:p>
            <a:r>
              <a:rPr lang="en-US" dirty="0">
                <a:latin typeface="Cambria" panose="02040503050406030204" pitchFamily="18" charset="0"/>
                <a:ea typeface="Cambria" panose="02040503050406030204" pitchFamily="18" charset="0"/>
              </a:rPr>
              <a:t>Evaluate performance against previous tasks</a:t>
            </a:r>
            <a:endParaRPr sz="2000" dirty="0">
              <a:latin typeface="Cambria" panose="02040503050406030204" pitchFamily="18" charset="0"/>
              <a:ea typeface="Cambria" panose="02040503050406030204" pitchFamily="18" charset="0"/>
            </a:endParaRPr>
          </a:p>
        </p:txBody>
      </p:sp>
      <p:sp>
        <p:nvSpPr>
          <p:cNvPr id="4" name="TextBox 3"/>
          <p:cNvSpPr txBox="1"/>
          <p:nvPr/>
        </p:nvSpPr>
        <p:spPr>
          <a:xfrm>
            <a:off x="808891" y="1524904"/>
            <a:ext cx="6599851" cy="656687"/>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To improve feature extraction by focusing on important disease regions within the leaf image</a:t>
            </a:r>
            <a:r>
              <a:rPr lang="en-US" dirty="0">
                <a:latin typeface="Cambria" panose="02040503050406030204" pitchFamily="18" charset="0"/>
                <a:ea typeface="Cambria" panose="020405030504060302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Task-4: Advanced CNN (</a:t>
            </a:r>
            <a:r>
              <a:rPr lang="en-US" sz="3200" dirty="0" err="1"/>
              <a:t>CGNet</a:t>
            </a:r>
            <a:r>
              <a:rPr lang="en-US" sz="3200" dirty="0"/>
              <a:t> / Attention-Based Model) Workflow</a:t>
            </a:r>
          </a:p>
        </p:txBody>
      </p:sp>
      <p:sp>
        <p:nvSpPr>
          <p:cNvPr id="3" name="Content Placeholder 2"/>
          <p:cNvSpPr>
            <a:spLocks noGrp="1"/>
          </p:cNvSpPr>
          <p:nvPr>
            <p:ph idx="1"/>
          </p:nvPr>
        </p:nvSpPr>
        <p:spPr>
          <a:xfrm>
            <a:off x="656573" y="2242038"/>
            <a:ext cx="6711654" cy="4673033"/>
          </a:xfrm>
        </p:spPr>
        <p:txBody>
          <a:bodyPr/>
          <a:lstStyle/>
          <a:p>
            <a:r>
              <a:rPr lang="en-US" b="1" dirty="0"/>
              <a:t>Outcome</a:t>
            </a:r>
          </a:p>
          <a:p>
            <a:endParaRPr lang="en-US" b="1" dirty="0"/>
          </a:p>
          <a:p>
            <a:r>
              <a:rPr lang="en-US" dirty="0">
                <a:latin typeface="Cambria" panose="02040503050406030204" pitchFamily="18" charset="0"/>
                <a:ea typeface="Cambria" panose="02040503050406030204" pitchFamily="18" charset="0"/>
              </a:rPr>
              <a:t>Advanced CNN models improve robustness and feature focus, but overall performance depends on dataset size and model complexity.</a:t>
            </a:r>
          </a:p>
          <a:p>
            <a:r>
              <a:rPr lang="en-US" dirty="0">
                <a:latin typeface="Cambria" panose="02040503050406030204" pitchFamily="18" charset="0"/>
                <a:ea typeface="Cambria" panose="02040503050406030204" pitchFamily="18" charset="0"/>
              </a:rPr>
              <a:t>Accuracy is </a:t>
            </a:r>
            <a:r>
              <a:rPr lang="en-US" b="0" i="0" dirty="0">
                <a:effectLst/>
                <a:latin typeface="system-ui"/>
              </a:rPr>
              <a:t>95.60%</a:t>
            </a:r>
            <a:r>
              <a:rPr lang="en-US" b="0" i="0" dirty="0">
                <a:effectLst/>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88353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3193" y="746449"/>
            <a:ext cx="6634604" cy="1077218"/>
          </a:xfrm>
          <a:prstGeom prst="rect">
            <a:avLst/>
          </a:prstGeom>
          <a:noFill/>
        </p:spPr>
        <p:txBody>
          <a:bodyPr wrap="square" rtlCol="0">
            <a:spAutoFit/>
          </a:bodyPr>
          <a:lstStyle/>
          <a:p>
            <a:r>
              <a:rPr lang="en-US" sz="3200" dirty="0"/>
              <a:t>Task-5: Grad-CAM (Model </a:t>
            </a:r>
            <a:r>
              <a:rPr lang="en-US" sz="3200" dirty="0" err="1"/>
              <a:t>Explainability</a:t>
            </a:r>
            <a:r>
              <a:rPr lang="en-US" sz="3200" dirty="0"/>
              <a:t>) Workflow</a:t>
            </a:r>
          </a:p>
        </p:txBody>
      </p:sp>
      <p:sp>
        <p:nvSpPr>
          <p:cNvPr id="2" name="TextBox 1"/>
          <p:cNvSpPr txBox="1"/>
          <p:nvPr/>
        </p:nvSpPr>
        <p:spPr>
          <a:xfrm>
            <a:off x="808893" y="1951892"/>
            <a:ext cx="6277708" cy="646331"/>
          </a:xfrm>
          <a:prstGeom prst="rect">
            <a:avLst/>
          </a:prstGeom>
          <a:noFill/>
        </p:spPr>
        <p:txBody>
          <a:bodyPr wrap="square" rtlCol="0">
            <a:spAutoFit/>
          </a:bodyPr>
          <a:lstStyle/>
          <a:p>
            <a:r>
              <a:rPr lang="en-US" b="1" dirty="0"/>
              <a:t>To explain why the CNN predicts a specific tomato leaf disease</a:t>
            </a:r>
            <a:r>
              <a:rPr lang="en-US" dirty="0"/>
              <a:t>.</a:t>
            </a:r>
          </a:p>
        </p:txBody>
      </p:sp>
      <p:sp>
        <p:nvSpPr>
          <p:cNvPr id="4" name="TextBox 3"/>
          <p:cNvSpPr txBox="1"/>
          <p:nvPr/>
        </p:nvSpPr>
        <p:spPr>
          <a:xfrm>
            <a:off x="808892" y="2726448"/>
            <a:ext cx="6748905" cy="5016758"/>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Select a trained model (best performing Custom CNN)</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Input a tomato leaf image into the </a:t>
            </a:r>
            <a:r>
              <a:rPr lang="en-US" sz="2000" dirty="0" err="1">
                <a:latin typeface="Cambria" panose="02040503050406030204" pitchFamily="18" charset="0"/>
                <a:ea typeface="Cambria" panose="02040503050406030204" pitchFamily="18" charset="0"/>
              </a:rPr>
              <a:t>modelCompute</a:t>
            </a:r>
            <a:r>
              <a:rPr lang="en-US" sz="2000" dirty="0">
                <a:latin typeface="Cambria" panose="02040503050406030204" pitchFamily="18" charset="0"/>
                <a:ea typeface="Cambria" panose="02040503050406030204" pitchFamily="18" charset="0"/>
              </a:rPr>
              <a:t> gradients of the predicted class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Identify important convolution feature maps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Generate a </a:t>
            </a:r>
            <a:r>
              <a:rPr lang="en-US" sz="2000" dirty="0" err="1">
                <a:latin typeface="Cambria" panose="02040503050406030204" pitchFamily="18" charset="0"/>
                <a:ea typeface="Cambria" panose="02040503050406030204" pitchFamily="18" charset="0"/>
              </a:rPr>
              <a:t>heatmap</a:t>
            </a:r>
            <a:r>
              <a:rPr lang="en-US" sz="2000" dirty="0">
                <a:latin typeface="Cambria" panose="02040503050406030204" pitchFamily="18" charset="0"/>
                <a:ea typeface="Cambria" panose="02040503050406030204" pitchFamily="18" charset="0"/>
              </a:rPr>
              <a:t> highlighting important regions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Overlay the </a:t>
            </a:r>
            <a:r>
              <a:rPr lang="en-US" sz="2000" dirty="0" err="1">
                <a:latin typeface="Cambria" panose="02040503050406030204" pitchFamily="18" charset="0"/>
                <a:ea typeface="Cambria" panose="02040503050406030204" pitchFamily="18" charset="0"/>
              </a:rPr>
              <a:t>heatmap</a:t>
            </a:r>
            <a:r>
              <a:rPr lang="en-US" sz="2000" dirty="0">
                <a:latin typeface="Cambria" panose="02040503050406030204" pitchFamily="18" charset="0"/>
                <a:ea typeface="Cambria" panose="02040503050406030204" pitchFamily="18" charset="0"/>
              </a:rPr>
              <a:t> on the original image</a:t>
            </a:r>
          </a:p>
          <a:p>
            <a:r>
              <a:rPr lang="en-US" sz="2000" dirty="0">
                <a:latin typeface="Cambria" panose="02040503050406030204" pitchFamily="18" charset="0"/>
                <a:ea typeface="Cambria" panose="02040503050406030204" pitchFamily="18" charset="0"/>
              </a:rPr>
              <a:t>Visualize disease-focused areas </a:t>
            </a: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51C64D35-7C96-4A4D-9883-F7218C1584AA}"/>
              </a:ext>
            </a:extLst>
          </p:cNvPr>
          <p:cNvPicPr>
            <a:picLocks noChangeAspect="1"/>
          </p:cNvPicPr>
          <p:nvPr/>
        </p:nvPicPr>
        <p:blipFill>
          <a:blip r:embed="rId2"/>
          <a:stretch>
            <a:fillRect/>
          </a:stretch>
        </p:blipFill>
        <p:spPr>
          <a:xfrm>
            <a:off x="6167509" y="5314815"/>
            <a:ext cx="2070558" cy="1543185"/>
          </a:xfrm>
          <a:prstGeom prst="rect">
            <a:avLst/>
          </a:prstGeom>
        </p:spPr>
      </p:pic>
    </p:spTree>
    <p:extLst>
      <p:ext uri="{BB962C8B-B14F-4D97-AF65-F5344CB8AC3E}">
        <p14:creationId xmlns:p14="http://schemas.microsoft.com/office/powerpoint/2010/main" val="2222010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Task-5: Grad-CAM (Model </a:t>
            </a:r>
            <a:r>
              <a:rPr lang="en-US" sz="3200" dirty="0" err="1"/>
              <a:t>Explainability</a:t>
            </a:r>
            <a:r>
              <a:rPr lang="en-US" sz="3200" dirty="0"/>
              <a:t>) Workflow</a:t>
            </a:r>
          </a:p>
        </p:txBody>
      </p:sp>
      <p:sp>
        <p:nvSpPr>
          <p:cNvPr id="14" name="Rectangle 7"/>
          <p:cNvSpPr>
            <a:spLocks noChangeArrowheads="1"/>
          </p:cNvSpPr>
          <p:nvPr/>
        </p:nvSpPr>
        <p:spPr bwMode="auto">
          <a:xfrm>
            <a:off x="589086" y="1889080"/>
            <a:ext cx="772028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en-US" altLang="en-US" b="1" dirty="0">
                <a:latin typeface="Arial" panose="020B0604020202020204" pitchFamily="34" charset="0"/>
              </a:rPr>
              <a:t>Outcome</a:t>
            </a:r>
          </a:p>
          <a:p>
            <a:pPr defTabSz="914400" eaLnBrk="0" fontAlgn="base" hangingPunct="0">
              <a:spcBef>
                <a:spcPct val="0"/>
              </a:spcBef>
              <a:spcAft>
                <a:spcPct val="0"/>
              </a:spcAft>
              <a:buFontTx/>
              <a:buChar char="•"/>
            </a:pPr>
            <a:endParaRPr lang="en-US" altLang="en-US" dirty="0">
              <a:latin typeface="Arial" panose="020B0604020202020204" pitchFamily="34" charset="0"/>
            </a:endParaRPr>
          </a:p>
          <a:p>
            <a:pPr defTabSz="914400" eaLnBrk="0" fontAlgn="base" hangingPunct="0">
              <a:spcBef>
                <a:spcPct val="0"/>
              </a:spcBef>
              <a:spcAft>
                <a:spcPct val="0"/>
              </a:spcAft>
              <a:buFontTx/>
              <a:buChar char="•"/>
            </a:pPr>
            <a:r>
              <a:rPr lang="en-US" altLang="en-US" dirty="0">
                <a:latin typeface="Cambria" panose="02040503050406030204" pitchFamily="18" charset="0"/>
                <a:ea typeface="Cambria" panose="02040503050406030204" pitchFamily="18" charset="0"/>
              </a:rPr>
              <a:t>Grad-CAM confirms that the model focuses on actual disease-affected regions, making predictions transparent and trustworthy.</a:t>
            </a:r>
          </a:p>
          <a:p>
            <a:pPr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FontTx/>
              <a:buChar char="•"/>
            </a:pPr>
            <a:endParaRPr lang="en-US" altLang="en-US" dirty="0">
              <a:latin typeface="Cambria" panose="02040503050406030204" pitchFamily="18" charset="0"/>
              <a:ea typeface="Cambria" panose="02040503050406030204" pitchFamily="18" charset="0"/>
            </a:endParaRPr>
          </a:p>
          <a:p>
            <a:pPr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FontTx/>
              <a:buChar char="•"/>
            </a:pPr>
            <a:r>
              <a:rPr lang="en-US" altLang="en-US" u="sng" dirty="0">
                <a:latin typeface="Cambria" panose="02040503050406030204" pitchFamily="18" charset="0"/>
                <a:ea typeface="Cambria" panose="02040503050406030204" pitchFamily="18" charset="0"/>
              </a:rPr>
              <a:t>Grad-CAM Sample Images: </a:t>
            </a:r>
          </a:p>
          <a:p>
            <a:pPr defTabSz="914400" eaLnBrk="0" fontAlgn="base" hangingPunct="0">
              <a:spcBef>
                <a:spcPct val="0"/>
              </a:spcBef>
              <a:spcAft>
                <a:spcPct val="0"/>
              </a:spcAft>
              <a:buFontTx/>
              <a:buChar char="•"/>
            </a:pPr>
            <a:endParaRPr kumimoji="0" lang="en-US" altLang="en-US" sz="1800" b="0" i="0" u="sng"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973949C7-E5DE-4D97-A15C-D49816673A50}"/>
              </a:ext>
            </a:extLst>
          </p:cNvPr>
          <p:cNvPicPr>
            <a:picLocks noChangeAspect="1"/>
          </p:cNvPicPr>
          <p:nvPr/>
        </p:nvPicPr>
        <p:blipFill>
          <a:blip r:embed="rId2"/>
          <a:stretch>
            <a:fillRect/>
          </a:stretch>
        </p:blipFill>
        <p:spPr>
          <a:xfrm>
            <a:off x="0" y="559419"/>
            <a:ext cx="9144000" cy="5739161"/>
          </a:xfrm>
          <a:prstGeom prst="rect">
            <a:avLst/>
          </a:prstGeom>
        </p:spPr>
      </p:pic>
    </p:spTree>
    <p:extLst>
      <p:ext uri="{BB962C8B-B14F-4D97-AF65-F5344CB8AC3E}">
        <p14:creationId xmlns:p14="http://schemas.microsoft.com/office/powerpoint/2010/main" val="1048929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Results</a:t>
            </a:r>
          </a:p>
        </p:txBody>
      </p:sp>
      <p:sp>
        <p:nvSpPr>
          <p:cNvPr id="3" name="Content Placeholder 2"/>
          <p:cNvSpPr>
            <a:spLocks noGrp="1"/>
          </p:cNvSpPr>
          <p:nvPr>
            <p:ph idx="1"/>
          </p:nvPr>
        </p:nvSpPr>
        <p:spPr/>
        <p:txBody>
          <a:bodyPr/>
          <a:lstStyle/>
          <a:p>
            <a:r>
              <a:rPr sz="2000" dirty="0">
                <a:latin typeface="Cambria" panose="02040503050406030204" pitchFamily="18" charset="0"/>
                <a:ea typeface="Cambria" panose="02040503050406030204" pitchFamily="18" charset="0"/>
                <a:cs typeface="Times New Roman" panose="02020603050405020304" pitchFamily="18" charset="0"/>
              </a:rPr>
              <a:t>CNN achieved high accuracy on plant leaf classification.</a:t>
            </a:r>
            <a:endParaRPr lang="en-US" sz="2000" dirty="0">
              <a:latin typeface="Cambria" panose="02040503050406030204" pitchFamily="18" charset="0"/>
              <a:ea typeface="Cambria" panose="02040503050406030204" pitchFamily="18" charset="0"/>
              <a:cs typeface="Times New Roman" panose="02020603050405020304" pitchFamily="18" charset="0"/>
            </a:endParaRPr>
          </a:p>
          <a:p>
            <a:endParaRPr sz="2000" dirty="0">
              <a:latin typeface="Cambria" panose="02040503050406030204" pitchFamily="18" charset="0"/>
              <a:ea typeface="Cambria" panose="02040503050406030204" pitchFamily="18" charset="0"/>
              <a:cs typeface="Times New Roman" panose="02020603050405020304" pitchFamily="18" charset="0"/>
            </a:endParaRPr>
          </a:p>
          <a:p>
            <a:r>
              <a:rPr sz="2000" dirty="0">
                <a:latin typeface="Cambria" panose="02040503050406030204" pitchFamily="18" charset="0"/>
                <a:ea typeface="Cambria" panose="02040503050406030204" pitchFamily="18" charset="0"/>
                <a:cs typeface="Times New Roman" panose="02020603050405020304" pitchFamily="18" charset="0"/>
              </a:rPr>
              <a:t>Training accuracy showed steady improvement.</a:t>
            </a:r>
            <a:endParaRPr lang="en-US" sz="2000" dirty="0">
              <a:latin typeface="Cambria" panose="02040503050406030204" pitchFamily="18" charset="0"/>
              <a:ea typeface="Cambria" panose="02040503050406030204" pitchFamily="18" charset="0"/>
              <a:cs typeface="Times New Roman" panose="02020603050405020304" pitchFamily="18" charset="0"/>
            </a:endParaRPr>
          </a:p>
          <a:p>
            <a:endParaRPr lang="en-US" sz="2000" dirty="0">
              <a:latin typeface="Cambria" panose="02040503050406030204" pitchFamily="18" charset="0"/>
              <a:ea typeface="Cambria" panose="02040503050406030204" pitchFamily="18" charset="0"/>
              <a:cs typeface="Times New Roman" panose="02020603050405020304" pitchFamily="18" charset="0"/>
            </a:endParaRPr>
          </a:p>
          <a:p>
            <a:r>
              <a:rPr sz="2000" dirty="0">
                <a:latin typeface="Cambria" panose="02040503050406030204" pitchFamily="18" charset="0"/>
                <a:ea typeface="Cambria" panose="02040503050406030204" pitchFamily="18" charset="0"/>
                <a:cs typeface="Times New Roman" panose="02020603050405020304" pitchFamily="18" charset="0"/>
              </a:rPr>
              <a:t>Validation accuracy confirmed good generalization.</a:t>
            </a:r>
            <a:endParaRPr lang="en-US" sz="2000" dirty="0">
              <a:latin typeface="Cambria" panose="02040503050406030204" pitchFamily="18" charset="0"/>
              <a:ea typeface="Cambria" panose="02040503050406030204" pitchFamily="18" charset="0"/>
              <a:cs typeface="Times New Roman" panose="02020603050405020304" pitchFamily="18" charset="0"/>
            </a:endParaRPr>
          </a:p>
          <a:p>
            <a:endParaRPr sz="2000" dirty="0">
              <a:latin typeface="Cambria" panose="02040503050406030204" pitchFamily="18" charset="0"/>
              <a:ea typeface="Cambria" panose="02040503050406030204" pitchFamily="18" charset="0"/>
              <a:cs typeface="Times New Roman" panose="02020603050405020304" pitchFamily="18" charset="0"/>
            </a:endParaRPr>
          </a:p>
          <a:p>
            <a:r>
              <a:rPr sz="2000" dirty="0">
                <a:latin typeface="Cambria" panose="02040503050406030204" pitchFamily="18" charset="0"/>
                <a:ea typeface="Cambria" panose="02040503050406030204" pitchFamily="18" charset="0"/>
                <a:cs typeface="Times New Roman" panose="02020603050405020304" pitchFamily="18" charset="0"/>
              </a:rPr>
              <a:t>Model successfully distinguishes healthy and diseased leaves</a:t>
            </a:r>
            <a:r>
              <a:rPr dirty="0">
                <a:latin typeface="Cambria" panose="02040503050406030204" pitchFamily="18" charset="0"/>
                <a:ea typeface="Cambria" panose="020405030504060302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Applications of Tree Plant Village</a:t>
            </a:r>
          </a:p>
        </p:txBody>
      </p:sp>
      <p:sp>
        <p:nvSpPr>
          <p:cNvPr id="3" name="Content Placeholder 2"/>
          <p:cNvSpPr>
            <a:spLocks noGrp="1"/>
          </p:cNvSpPr>
          <p:nvPr>
            <p:ph idx="1"/>
          </p:nvPr>
        </p:nvSpPr>
        <p:spPr/>
        <p:txBody>
          <a:bodyPr>
            <a:normAutofit/>
          </a:bodyPr>
          <a:lstStyle/>
          <a:p>
            <a:r>
              <a:rPr sz="2000" dirty="0">
                <a:latin typeface="Times New Roman" panose="02020603050405020304" pitchFamily="18" charset="0"/>
                <a:cs typeface="Times New Roman" panose="02020603050405020304" pitchFamily="18" charset="0"/>
              </a:rPr>
              <a:t>Early detection of plant diseases.</a:t>
            </a:r>
            <a:endParaRPr lang="en-US" sz="2000" dirty="0">
              <a:latin typeface="Times New Roman" panose="02020603050405020304" pitchFamily="18" charset="0"/>
              <a:cs typeface="Times New Roman" panose="02020603050405020304" pitchFamily="18" charset="0"/>
            </a:endParaRPr>
          </a:p>
          <a:p>
            <a:endParaRPr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Helps farmers take preventive measures.</a:t>
            </a:r>
            <a:endParaRPr lang="en-US" sz="2000" dirty="0">
              <a:latin typeface="Times New Roman" panose="02020603050405020304" pitchFamily="18" charset="0"/>
              <a:cs typeface="Times New Roman" panose="02020603050405020304" pitchFamily="18" charset="0"/>
            </a:endParaRPr>
          </a:p>
          <a:p>
            <a:endParaRPr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Reduces crop loss and increases productivity.</a:t>
            </a:r>
            <a:endParaRPr lang="en-US" sz="2000" dirty="0">
              <a:latin typeface="Times New Roman" panose="02020603050405020304" pitchFamily="18" charset="0"/>
              <a:cs typeface="Times New Roman" panose="02020603050405020304" pitchFamily="18" charset="0"/>
            </a:endParaRPr>
          </a:p>
          <a:p>
            <a:endParaRPr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Can be extended to mobile or web applications</a:t>
            </a:r>
            <a:r>
              <a:rPr sz="20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lang="en-US" sz="2000" dirty="0">
                <a:latin typeface="Cambria" panose="02040503050406030204" pitchFamily="18" charset="0"/>
                <a:ea typeface="Cambria" panose="02040503050406030204" pitchFamily="18" charset="0"/>
              </a:rPr>
              <a:t>Tree Plant Village provides an effective and practical solution for detecting plant diseases using image data. The use of Convolutional Neural Networks (CNNs) shows strong performance in image-based classification tasks, enabling accurate identification of plant health conditions. Overall, this project successfully demonstrates a real-world application of deep learning technology in agriculture, helping improve disease diagnosis and supporting smarter farming practices.</a:t>
            </a: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1215" y="1921065"/>
            <a:ext cx="7553609" cy="1280890"/>
          </a:xfrm>
        </p:spPr>
        <p:txBody>
          <a:bodyPr>
            <a:normAutofit/>
          </a:bodyPr>
          <a:lstStyle/>
          <a:p>
            <a:r>
              <a:rPr sz="6000" dirty="0">
                <a:latin typeface="Cambria" panose="02040503050406030204" pitchFamily="18" charset="0"/>
                <a:ea typeface="Cambria" panose="02040503050406030204" pitchFamily="18" charset="0"/>
              </a:rPr>
              <a:t>Thank You</a:t>
            </a:r>
          </a:p>
        </p:txBody>
      </p:sp>
      <p:sp>
        <p:nvSpPr>
          <p:cNvPr id="3" name="Content Placeholder 2"/>
          <p:cNvSpPr>
            <a:spLocks noGrp="1"/>
          </p:cNvSpPr>
          <p:nvPr>
            <p:ph idx="1"/>
          </p:nvPr>
        </p:nvSpPr>
        <p:spPr>
          <a:xfrm>
            <a:off x="1811215" y="3201955"/>
            <a:ext cx="6099110" cy="1647132"/>
          </a:xfrm>
        </p:spPr>
        <p:txBody>
          <a:bodyPr>
            <a:normAutofit/>
          </a:bodyPr>
          <a:lstStyle/>
          <a:p>
            <a:pPr marL="0" indent="0">
              <a:buNone/>
            </a:pPr>
            <a:r>
              <a:rPr sz="2800" dirty="0">
                <a:latin typeface="Cambria" panose="02040503050406030204" pitchFamily="18" charset="0"/>
                <a:ea typeface="Cambria" panose="02040503050406030204" pitchFamily="18" charset="0"/>
                <a:cs typeface="Times New Roman" panose="02020603050405020304" pitchFamily="18" charset="0"/>
              </a:rPr>
              <a:t>Thank you for your attention.</a:t>
            </a:r>
          </a:p>
          <a:p>
            <a:pPr marL="0" indent="0">
              <a:buNone/>
            </a:pPr>
            <a:r>
              <a:rPr sz="2800" dirty="0">
                <a:latin typeface="Cambria" panose="02040503050406030204" pitchFamily="18" charset="0"/>
                <a:ea typeface="Cambria" panose="02040503050406030204" pitchFamily="18" charset="0"/>
                <a:cs typeface="Times New Roman" panose="02020603050405020304" pitchFamily="18" charset="0"/>
              </a:rPr>
              <a:t>Any Questions</a:t>
            </a:r>
            <a:r>
              <a:rPr sz="2800" dirty="0">
                <a:latin typeface="Times New Roman" panose="02020603050405020304" pitchFamily="18" charset="0"/>
                <a:cs typeface="Times New Roman" panose="02020603050405020304" pitchFamily="18" charset="0"/>
              </a:rPr>
              <a: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255</TotalTime>
  <Words>874</Words>
  <Application>Microsoft Office PowerPoint</Application>
  <PresentationFormat>On-screen Show (4:3)</PresentationFormat>
  <Paragraphs>118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Cambria</vt:lpstr>
      <vt:lpstr>Century Gothic</vt:lpstr>
      <vt:lpstr>system-ui</vt:lpstr>
      <vt:lpstr>Times New Roman</vt:lpstr>
      <vt:lpstr>Wingdings 3</vt:lpstr>
      <vt:lpstr>Ion</vt:lpstr>
      <vt:lpstr>Tree Plant Village</vt:lpstr>
      <vt:lpstr>Presented By:</vt:lpstr>
      <vt:lpstr>Introduction</vt:lpstr>
      <vt:lpstr>Dataset Overview </vt:lpstr>
      <vt:lpstr>Task 1: Exploratory Data Analysis (EDA)</vt:lpstr>
      <vt:lpstr>Task-2: Transfer Learning Workflow</vt:lpstr>
      <vt:lpstr>Task-2: Transfer Learning Workflow</vt:lpstr>
      <vt:lpstr>Task-3: Custom CNN Workflow (Best Performing Model</vt:lpstr>
      <vt:lpstr>Task-3: Custom CNN Workflow (Best Performing Model</vt:lpstr>
      <vt:lpstr>Task-4: Advanced CNN (CGNet / Attention-Based Model) Workflow</vt:lpstr>
      <vt:lpstr>Task-4: Advanced CNN (CGNet / Attention-Based Model) Workflow</vt:lpstr>
      <vt:lpstr>PowerPoint Presentation</vt:lpstr>
      <vt:lpstr>Task-5: Grad-CAM (Model Explainability) Workflow</vt:lpstr>
      <vt:lpstr>Results</vt:lpstr>
      <vt:lpstr>Applications of Tree Plant Village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Plant Village</dc:title>
  <dc:subject/>
  <dc:creator>user</dc:creator>
  <cp:keywords/>
  <dc:description>generated using python-pptx</dc:description>
  <cp:lastModifiedBy>User</cp:lastModifiedBy>
  <cp:revision>18</cp:revision>
  <dcterms:created xsi:type="dcterms:W3CDTF">2013-01-27T09:14:16Z</dcterms:created>
  <dcterms:modified xsi:type="dcterms:W3CDTF">2025-12-16T19:00:06Z</dcterms:modified>
  <cp:category/>
</cp:coreProperties>
</file>